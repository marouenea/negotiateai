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432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"Most people never negotiate their salary — and over a career, that silence costs them over half a million dollars. NegotiateAI gives everyone the tools of an expert negotiator."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start by entering your offer. Role, city, years of experience, and your current salary. That's all it needs — in seconds."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can also add equity, signing bonus, and relocation details. The more you add, the sharper the analysis."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the moment of truth. The AI tells you exactly how underpaid you are — $65,875 a year, $329,000 over five years. The visual makes it impossible to ignore."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"Now you practice. The AI plays the hiring manager — realistic pushback, real concessions. And the coach panel on the right scores every single response. A 3 out of 10 here — watch it rewrite the message for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"Finally — your script. Target $169K, fallback $132K, confidence 85%. Word for word what to say. And you can hear it read back to you before your real negotiation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"Today — Python, Streamlit, Gemini. Next — voice mode and on-chain proofs. We're helping people get what they deserve.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87A"/>
          </a:solidFill>
          <a:ln w="12700">
            <a:solidFill>
              <a:srgbClr val="00E8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0" y="502920"/>
            <a:ext cx="2743200" cy="320040"/>
          </a:xfrm>
          <a:prstGeom prst="rect">
            <a:avLst/>
          </a:prstGeom>
          <a:solidFill>
            <a:srgbClr val="0A1F12"/>
          </a:solidFill>
          <a:ln w="10160">
            <a:solidFill>
              <a:srgbClr val="00A8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502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Hackathon Demo — v3.0 Full Stack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Negotiate</a:t>
            </a:r>
            <a:r>
              <a:rPr lang="en-US" sz="7200" b="1" dirty="0">
                <a:solidFill>
                  <a:srgbClr val="00E8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salary negotiation coach</a:t>
            </a:r>
            <a:endParaRPr lang="en-US" sz="15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5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worth · Practice your pitch · Get your script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3200400"/>
            <a:ext cx="2743200" cy="13716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3337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63040" y="382219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NEGOTIATE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703320" y="3337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$7,500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03320" y="382219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ON TABLE / YR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37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$500K+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943600" y="382219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COST OF SILENCE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87A"/>
          </a:solidFill>
          <a:ln w="12700">
            <a:solidFill>
              <a:srgbClr val="00E8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 your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offer details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your role, location, experience, and the salary offered. NegotiateAI calculates exactly where you stand in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788920"/>
            <a:ext cx="347472" cy="34747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23544" y="27889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Location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9718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to your exact job title and city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347472" cy="34747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337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⏱️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23544" y="33375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+ Tier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" y="352044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experience and company type affect your range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3400" y="365760"/>
            <a:ext cx="4572000" cy="4434840"/>
          </a:xfrm>
          <a:prstGeom prst="rect">
            <a:avLst/>
          </a:prstGeom>
          <a:solidFill>
            <a:srgbClr val="111820"/>
          </a:solidFill>
          <a:ln w="10160">
            <a:solidFill>
              <a:srgbClr val="1E2A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Offer Details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051560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TITLE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0" y="1252728"/>
            <a:ext cx="3931920" cy="347472"/>
          </a:xfrm>
          <a:prstGeom prst="rect">
            <a:avLst/>
          </a:prstGeom>
          <a:solidFill>
            <a:srgbClr val="0D1117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2527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Software Engineer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180136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0" y="2002536"/>
            <a:ext cx="3931920" cy="347472"/>
          </a:xfrm>
          <a:prstGeom prst="rect">
            <a:avLst/>
          </a:prstGeom>
          <a:solidFill>
            <a:srgbClr val="0D1117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20025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Francisco, CA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0" y="2551176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EXPERIENCE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0" y="2752344"/>
            <a:ext cx="3931920" cy="347472"/>
          </a:xfrm>
          <a:prstGeom prst="rect">
            <a:avLst/>
          </a:prstGeom>
          <a:solidFill>
            <a:srgbClr val="0D1117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275234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33009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OFFER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0" y="3502152"/>
            <a:ext cx="3931920" cy="347472"/>
          </a:xfrm>
          <a:prstGeom prst="rect">
            <a:avLst/>
          </a:prstGeom>
          <a:solidFill>
            <a:srgbClr val="0D1117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5021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$95,000 / year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87A"/>
          </a:solidFill>
          <a:ln w="12700">
            <a:solidFill>
              <a:srgbClr val="00E8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CONTINUED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your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compensation picture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signing bonus, equity, relocation, and annual bonus — NegotiateAI builds your full total compensation package, not just base salary.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00E8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3337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E8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6072" y="367588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SECTIONS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329184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60A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76272" y="3337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76272" y="367588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43400" y="365760"/>
            <a:ext cx="4572000" cy="4434840"/>
          </a:xfrm>
          <a:prstGeom prst="rect">
            <a:avLst/>
          </a:prstGeom>
          <a:solidFill>
            <a:srgbClr val="111820"/>
          </a:solidFill>
          <a:ln w="10160">
            <a:solidFill>
              <a:srgbClr val="1E2A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Total Compensation Breakdown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10972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Salary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$95,000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353312"/>
            <a:ext cx="3931920" cy="128016"/>
          </a:xfrm>
          <a:prstGeom prst="rect">
            <a:avLst/>
          </a:prstGeom>
          <a:solidFill>
            <a:srgbClr val="1E2A36"/>
          </a:solidFill>
          <a:ln w="12700">
            <a:solidFill>
              <a:srgbClr val="1E2A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1353312"/>
            <a:ext cx="2437790" cy="12801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184708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Bonus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84708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2103120"/>
            <a:ext cx="3931920" cy="128016"/>
          </a:xfrm>
          <a:prstGeom prst="rect">
            <a:avLst/>
          </a:prstGeom>
          <a:solidFill>
            <a:srgbClr val="1E2A36"/>
          </a:solidFill>
          <a:ln w="12700">
            <a:solidFill>
              <a:srgbClr val="1E2A3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2103120"/>
            <a:ext cx="393192" cy="128016"/>
          </a:xfrm>
          <a:prstGeom prst="rect">
            <a:avLst/>
          </a:prstGeom>
          <a:solidFill>
            <a:srgbClr val="00E87A"/>
          </a:solidFill>
          <a:ln w="12700">
            <a:solidFill>
              <a:srgbClr val="00E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25968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Bonus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2596896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0" y="2852928"/>
            <a:ext cx="3931920" cy="128016"/>
          </a:xfrm>
          <a:prstGeom prst="rect">
            <a:avLst/>
          </a:prstGeom>
          <a:solidFill>
            <a:srgbClr val="1E2A36"/>
          </a:solidFill>
          <a:ln w="12700">
            <a:solidFill>
              <a:srgbClr val="1E2A3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2852928"/>
            <a:ext cx="314554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334670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(vested/yr)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0" y="334670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$30,000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3602736"/>
            <a:ext cx="3931920" cy="128016"/>
          </a:xfrm>
          <a:prstGeom prst="rect">
            <a:avLst/>
          </a:prstGeom>
          <a:solidFill>
            <a:srgbClr val="1E2A36"/>
          </a:solidFill>
          <a:ln w="12700">
            <a:solidFill>
              <a:srgbClr val="1E2A3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3602736"/>
            <a:ext cx="786384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0" y="4251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E8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TOTAL  $152,000 / year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analysis —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instant verdict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NegotiateAI compares your offer against real market data — P25, median, and P75 salary benchmarks for your exact role and location.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10896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31546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871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6072" y="349300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MEDIAN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310896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76272" y="31546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r>
              <a:rPr lang="en-US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65,875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76272" y="349300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YEAR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393192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39776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871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$329K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76072" y="431596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5 YEARS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43400" y="365760"/>
            <a:ext cx="4572000" cy="4434840"/>
          </a:xfrm>
          <a:prstGeom prst="rect">
            <a:avLst/>
          </a:prstGeom>
          <a:solidFill>
            <a:srgbClr val="111820"/>
          </a:solidFill>
          <a:ln w="10160">
            <a:solidFill>
              <a:srgbClr val="1E2A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5943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Market Salary Range — Senior SWE, San Francisco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200400" cy="640080"/>
          </a:xfrm>
          <a:prstGeom prst="rect">
            <a:avLst/>
          </a:prstGeom>
          <a:solidFill>
            <a:srgbClr val="0A2E18"/>
          </a:solidFill>
          <a:ln w="7620">
            <a:solidFill>
              <a:srgbClr val="00A8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1234440" cy="640080"/>
          </a:xfrm>
          <a:prstGeom prst="rect">
            <a:avLst/>
          </a:prstGeom>
          <a:solidFill>
            <a:srgbClr val="2E0A0A"/>
          </a:solidFill>
          <a:ln w="12700">
            <a:solidFill>
              <a:srgbClr val="2E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71032" y="914400"/>
            <a:ext cx="36576" cy="8229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6916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190195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532120" y="16916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32120" y="190195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$161K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16916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190195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$195K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21762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Your offer: $95K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2514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zone shows your offer. The green zone is where you should be.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3200400"/>
            <a:ext cx="4114800" cy="777240"/>
          </a:xfrm>
          <a:prstGeom prst="rect">
            <a:avLst/>
          </a:prstGeom>
          <a:solidFill>
            <a:srgbClr val="2E1A0A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24612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You are leaving $65,875 / year on the table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$329,375 over the next 5 years if you don't negotiate.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Practice with an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hiring manager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realistic hiring manager simulation powered by Gemini. Every response is scored 1–10 by the AI Coach — mistakes flagged and a better version written for you.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347472" cy="34747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175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🎙️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23544" y="30175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32004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your responses — ElevenLabs reads back the hiring manager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611880"/>
            <a:ext cx="347472" cy="34747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6118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23544" y="361188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" y="37947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score + mistake analysis + improved version on every turn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3400" y="365760"/>
            <a:ext cx="4572000" cy="4434840"/>
          </a:xfrm>
          <a:prstGeom prst="rect">
            <a:avLst/>
          </a:prstGeom>
          <a:solidFill>
            <a:srgbClr val="111820"/>
          </a:solidFill>
          <a:ln w="10160">
            <a:solidFill>
              <a:srgbClr val="1E2A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5669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Live Negotiation Simulation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713232"/>
          </a:xfrm>
          <a:prstGeom prst="rect">
            <a:avLst/>
          </a:prstGeom>
          <a:solidFill>
            <a:srgbClr val="1A2535"/>
          </a:solidFill>
          <a:ln w="6350">
            <a:solidFill>
              <a:srgbClr val="1E2A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0058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Hiring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63440" y="12161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offer $95K. That's our standard range for this level.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1874520"/>
            <a:ext cx="4114800" cy="713232"/>
          </a:xfrm>
          <a:prstGeom prst="rect">
            <a:avLst/>
          </a:prstGeom>
          <a:solidFill>
            <a:srgbClr val="0A1F2E"/>
          </a:solidFill>
          <a:ln w="6350">
            <a:solidFill>
              <a:srgbClr val="1E2A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9202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You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21305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my research, market rate is $155-165K. I was hoping for $160K.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2788920"/>
            <a:ext cx="4114800" cy="713232"/>
          </a:xfrm>
          <a:prstGeom prst="rect">
            <a:avLst/>
          </a:prstGeom>
          <a:solidFill>
            <a:srgbClr val="1A2535"/>
          </a:solidFill>
          <a:ln w="6350">
            <a:solidFill>
              <a:srgbClr val="1E2A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28346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Hiring Manager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30449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higher than our band. Could you do $105K?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4114800" cy="804672"/>
          </a:xfrm>
          <a:prstGeom prst="rect">
            <a:avLst/>
          </a:prstGeom>
          <a:solidFill>
            <a:srgbClr val="0A1A0A"/>
          </a:solidFill>
          <a:ln w="10160">
            <a:solidFill>
              <a:srgbClr val="00E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382219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AI Coach Score: 3/10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40507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Better: "I'm targeting $160K based on P75 market data for this role. Is there flexibility?"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personalized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negotiation script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simulation, NegotiateAI generates a word-for-word script tailored to your profile — with a target number, a fallback, and a confidence score.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00E8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324612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E8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$169K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6072" y="358444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ASK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3200400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76272" y="324612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$132K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76272" y="358444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4041648"/>
            <a:ext cx="1417320" cy="685800"/>
          </a:xfrm>
          <a:prstGeom prst="rect">
            <a:avLst/>
          </a:prstGeom>
          <a:solidFill>
            <a:srgbClr val="111820"/>
          </a:solidFill>
          <a:ln w="1016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40873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76072" y="4425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43400" y="365760"/>
            <a:ext cx="4572000" cy="4434840"/>
          </a:xfrm>
          <a:prstGeom prst="rect">
            <a:avLst/>
          </a:prstGeom>
          <a:solidFill>
            <a:srgbClr val="111820"/>
          </a:solidFill>
          <a:ln w="10160">
            <a:solidFill>
              <a:srgbClr val="1E2A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594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Your Negotiation Script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1005840"/>
            <a:ext cx="4114800" cy="914400"/>
          </a:xfrm>
          <a:prstGeom prst="rect">
            <a:avLst/>
          </a:prstGeom>
          <a:solidFill>
            <a:srgbClr val="111820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1005840"/>
            <a:ext cx="5486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06070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09160" y="126187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"I'm very excited about this role. Based on my research and experience, I was expecting something closer to $169K. Is there flexibility there?"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2057400"/>
            <a:ext cx="4114800" cy="914400"/>
          </a:xfrm>
          <a:prstGeom prst="rect">
            <a:avLst/>
          </a:prstGeom>
          <a:solidFill>
            <a:srgbClr val="111820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2057400"/>
            <a:ext cx="5486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211226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PUSH BACK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09160" y="231343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budget constraints. I'd be comfortable at $155K with a 90-day review built into the offer."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3108960"/>
            <a:ext cx="4114800" cy="914400"/>
          </a:xfrm>
          <a:prstGeom prst="rect">
            <a:avLst/>
          </a:prstGeom>
          <a:solidFill>
            <a:srgbClr val="111820"/>
          </a:solidFill>
          <a:ln w="7620">
            <a:solidFill>
              <a:srgbClr val="1E2A3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3108960"/>
            <a:ext cx="5486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16382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09160" y="3364992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minimum to make this work is $132K. Is that achievable?"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0" y="4206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E8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Hit "Hear Your Script" to listen via ElevenLabs before your real call.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87A"/>
          </a:solidFill>
          <a:ln w="12700">
            <a:solidFill>
              <a:srgbClr val="00E8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0F4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Helping people 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E87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they deserve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1828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million people enter the workforce every year.</a:t>
            </a:r>
            <a:endParaRPr lang="en-US" sz="13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30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NegotiateAI is how they stop leaving money on the table.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828800" cy="1783080"/>
          </a:xfrm>
          <a:prstGeom prst="rect">
            <a:avLst/>
          </a:prstGeom>
          <a:solidFill>
            <a:srgbClr val="111820"/>
          </a:solidFill>
          <a:ln w="10160">
            <a:solidFill>
              <a:srgbClr val="60A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419856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hiring manager</a:t>
            </a:r>
            <a:endParaRPr lang="en-US" sz="9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live coaching engine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06040" y="2651760"/>
            <a:ext cx="1828800" cy="1783080"/>
          </a:xfrm>
          <a:prstGeom prst="rect">
            <a:avLst/>
          </a:prstGeom>
          <a:solidFill>
            <a:srgbClr val="111820"/>
          </a:solidFill>
          <a:ln w="10160">
            <a:solidFill>
              <a:srgbClr val="00E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🎙️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9748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Voice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3419856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to practice, hear</a:t>
            </a:r>
            <a:endParaRPr lang="en-US" sz="9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script read back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2651760"/>
            <a:ext cx="1828800" cy="1783080"/>
          </a:xfrm>
          <a:prstGeom prst="rect">
            <a:avLst/>
          </a:prstGeom>
          <a:solidFill>
            <a:srgbClr val="11182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⛓️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Blockchain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3419856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session proofs</a:t>
            </a:r>
            <a:endParaRPr lang="en-US" sz="9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coming next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720840" y="2651760"/>
            <a:ext cx="1828800" cy="1783080"/>
          </a:xfrm>
          <a:prstGeom prst="rect">
            <a:avLst/>
          </a:prstGeom>
          <a:solidFill>
            <a:srgbClr val="111820"/>
          </a:solidFill>
          <a:ln w="10160">
            <a:solidFill>
              <a:srgbClr val="00A8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🍃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812280" y="31272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history +</a:t>
            </a:r>
            <a:endParaRPr lang="en-US" sz="9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950" dirty="0">
                <a:solidFill>
                  <a:srgbClr val="8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analytics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5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Python · Streamlit · Gemini AI · </a:t>
            </a:r>
            <a:r>
              <a:rPr lang="en-US" sz="900" kern="0" spc="5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r>
              <a:rPr lang="en-US" sz="900" kern="0" spc="5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</a:p>
          <a:p>
            <a:pPr marL="0" indent="0" algn="ctr">
              <a:buNone/>
            </a:pPr>
            <a:r>
              <a:rPr lang="en-US" sz="900" kern="0" spc="5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r>
              <a:rPr lang="en-US" sz="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Offer letter upload · Current-vs-new offer comparison · Company-level salary database · Personalized LLM response generation</a:t>
            </a:r>
            <a:r>
              <a:rPr lang="en-US" sz="900" kern="0" spc="50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Mobile app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921</Words>
  <Application>Microsoft Office PowerPoint</Application>
  <PresentationFormat>On-screen Show (16:9)</PresentationFormat>
  <Paragraphs>141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NegotiateAI</dc:title>
  <dc:subject>PptxGenJS Presentation</dc:subject>
  <dc:creator>PptxGenJS</dc:creator>
  <cp:lastModifiedBy>Sara Mezuraj</cp:lastModifiedBy>
  <cp:revision>6</cp:revision>
  <dcterms:created xsi:type="dcterms:W3CDTF">2026-03-29T15:55:19Z</dcterms:created>
  <dcterms:modified xsi:type="dcterms:W3CDTF">2026-03-31T16:28:30Z</dcterms:modified>
</cp:coreProperties>
</file>